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CS-419 DEEP LEARNING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Credit Card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D1D5DB"/>
                </a:solidFill>
                <a:latin typeface="Calibri"/>
              </a:rPr>
              <a:t>An Experimental Study: Supervised MLP vs Unsupervised Autoencoder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Ahmed Raza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Calibri"/>
              </a:rPr>
              <a:t>BSCS 2k23 · Section 13D / 13E ·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D4ED8"/>
                </a:solidFill>
                <a:latin typeface="Calibri"/>
              </a:rPr>
              <a:t>github.com/AhmedRaza33/dl-project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WHY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Credit-card fraud causes </a:t>
            </a:r>
            <a:r>
              <a:rPr sz="1600" b="1" i="0">
                <a:solidFill>
                  <a:srgbClr val="111827"/>
                </a:solidFill>
                <a:latin typeface="Calibri"/>
              </a:rPr>
              <a:t>billions of dollars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in losses each year.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Key feature of the problem: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•  Extreme class imbalance — fraud is &lt; 0.2 % of all transactions.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•  Accuracy is meaningless — predicting </a:t>
            </a:r>
            <a:r>
              <a:rPr sz="1600" b="0" i="1">
                <a:solidFill>
                  <a:srgbClr val="111827"/>
                </a:solidFill>
                <a:latin typeface="Calibri"/>
              </a:rPr>
              <a:t>"never fraud"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 already scores </a:t>
            </a:r>
            <a:r>
              <a:rPr sz="1600" b="1" i="0">
                <a:solidFill>
                  <a:srgbClr val="DC2626"/>
                </a:solidFill>
                <a:latin typeface="Calibri"/>
              </a:rPr>
              <a:t>99.83 %</a:t>
            </a:r>
            <a:r>
              <a:rPr sz="1600" b="0" i="0">
                <a:solidFill>
                  <a:srgbClr val="111827"/>
                </a:solidFill>
                <a:latin typeface="Calibri"/>
              </a:rPr>
              <a:t>.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•  Mistakes are asymmetric: missed fraud is the costly error.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600" b="1" i="0">
                <a:solidFill>
                  <a:srgbClr val="111827"/>
                </a:solidFill>
                <a:latin typeface="Calibri"/>
              </a:rPr>
              <a:t>Two questions this project answers: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1.  Which DL technique helps the most on this data?</a:t>
            </a:r>
          </a:p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2.  Is a supervised classifier (MLP) really better than an unsupervised anomaly detector (Autoencoder)?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463040"/>
            <a:ext cx="3931920" cy="475488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Calibri"/>
              </a:rPr>
              <a:t>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11827"/>
                </a:solidFill>
                <a:latin typeface="Calibri"/>
              </a:rPr>
              <a:t>284 807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514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9718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11827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747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features (V1..V28, Time, Amount)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319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11827"/>
                </a:solidFill>
                <a:latin typeface="Calibri"/>
              </a:rPr>
              <a:t>492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434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fraud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9204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11827"/>
                </a:solidFill>
                <a:latin typeface="Calibri"/>
              </a:rPr>
              <a:t>0.172 %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949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positive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Two Models, Same Test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486400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Supervised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86400" cy="384048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Binary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30 → 64 → 32 → 16 → 1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Binary cross-entropy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Sees fraud labels during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Decision = predicted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≈ 5 k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63040"/>
            <a:ext cx="548640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Deep Autoencoder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011680"/>
            <a:ext cx="5486400" cy="384048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Unsupervised anomaly detector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30 → 28 → 20 → 12 → 7 → 12 → 20 → 28 →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63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Trained on normals only (MSE)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6118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Never sees fraud during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605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Decision = reconstruction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0916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•  ≈ 4 k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Both evaluated on the same stratified 70 / 15 / 15 split (seed=42) — every reported number is directly comparable.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ADDITIVE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Experimental Study — 7 MLP Variants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What it adds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1_baseline 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SGD, ReLU, no tricks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2_adam  ★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Swap SGD → Adam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0.8329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3_classweights 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 class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4_batchnorm  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 BatchNormalization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0.9651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0.6448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5_dropout_l2 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 Dropout(0.3) + L2(1e-4)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6_leakyrelu   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ReLU → LeakyReLU(0.1)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0.9615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0.6600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7_best 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 He init + LR 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0.6658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03920" y="1463040"/>
            <a:ext cx="3200400" cy="41148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Calibri"/>
              </a:rPr>
              <a:t>Winner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Calibri"/>
              </a:rPr>
              <a:t>2_adam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231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F1 </a:t>
            </a:r>
            <a:r>
              <a:rPr sz="1400" b="1" i="0">
                <a:solidFill>
                  <a:srgbClr val="16A34A"/>
                </a:solidFill>
                <a:latin typeface="Calibri"/>
              </a:rPr>
              <a:t>0.815</a:t>
            </a:r>
          </a:p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PR-AUC </a:t>
            </a:r>
            <a:r>
              <a:rPr sz="1400" b="1" i="0">
                <a:solidFill>
                  <a:srgbClr val="16A34A"/>
                </a:solidFill>
                <a:latin typeface="Calibri"/>
              </a:rPr>
              <a:t>0.833</a:t>
            </a:r>
          </a:p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ROC-AUC </a:t>
            </a:r>
            <a:r>
              <a:rPr sz="1400" b="1" i="0">
                <a:solidFill>
                  <a:srgbClr val="16A34A"/>
                </a:solidFill>
                <a:latin typeface="Calibri"/>
              </a:rPr>
              <a:t>0.979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Plain </a:t>
            </a:r>
            <a:r>
              <a:rPr sz="1400" b="1" i="0">
                <a:solidFill>
                  <a:srgbClr val="111827"/>
                </a:solidFill>
                <a:latin typeface="Calibri"/>
              </a:rPr>
              <a:t>Adam</a:t>
            </a:r>
            <a:r>
              <a:rPr sz="1400" b="0" i="0">
                <a:solidFill>
                  <a:srgbClr val="111827"/>
                </a:solidFill>
                <a:latin typeface="Calibri"/>
              </a:rPr>
              <a:t> on the baseline arch.</a:t>
            </a:r>
          </a:p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Adding BN / Dropout / L2 / class-weights </a:t>
            </a:r>
            <a:r>
              <a:rPr sz="1400" b="1" i="0">
                <a:solidFill>
                  <a:srgbClr val="DC2626"/>
                </a:solidFill>
                <a:latin typeface="Calibri"/>
              </a:rPr>
              <a:t>hurts.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Switching SGD → Adam alone delivers +0.13 PR-AUC. Further regularisation removes signal — the model is already low-variance.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Key Insight: simpler is better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0" cy="2377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Calibri"/>
              </a:rPr>
              <a:t>Data : parameters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11827"/>
                </a:solidFill>
                <a:latin typeface="Calibri"/>
              </a:rPr>
              <a:t>199 364 / 5 057  ≈  39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examples per parameter — already low-variance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Calibri"/>
              </a:rPr>
              <a:t>Implications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11827"/>
                </a:solidFill>
                <a:latin typeface="Calibri"/>
              </a:rPr>
              <a:t>Adam dominates SGD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— adaptive LRs converge to a strictly better optimum on the PCA-decorrelated loss surface.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DC2626"/>
                </a:solidFill>
                <a:latin typeface="Calibri"/>
              </a:rPr>
              <a:t>Dropout &amp; L2 hurt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— the model has plenty of capacity headroom; suppressing it removes signal.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11827"/>
                </a:solidFill>
                <a:latin typeface="Calibri"/>
              </a:rPr>
              <a:t>Class weights help ROC-AUC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, but the F1 gain disappears once we tune the threshold.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11827"/>
                </a:solidFill>
                <a:latin typeface="Calibri"/>
              </a:rPr>
              <a:t>LeakyReLU + He init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matter most in the subtractive ablation: removing them costs −0.056 F1.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Head-to-Head: MLP vs Autoencoder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MLP (best)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Autoencoder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+0.027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0.9791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0.9382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+0.0410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0.8329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0.4922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+0.3408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4,609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4,085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Train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7.9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46.1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212080" cy="2132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5532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ROC (left) and Precision–Recall (right) on the shared test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Same 42 722-sample test set. Same F1-tuned threshold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Where each model errs</a:t>
            </a:r>
          </a:p>
        </p:txBody>
      </p:sp>
      <p:pic>
        <p:nvPicPr>
          <p:cNvPr id="5" name="Picture 4" descr="cm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291840" cy="3291840"/>
          </a:xfrm>
          <a:prstGeom prst="rect">
            <a:avLst/>
          </a:prstGeom>
        </p:spPr>
      </p:pic>
      <p:pic>
        <p:nvPicPr>
          <p:cNvPr id="6" name="Picture 5" descr="cm_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  <a:latin typeface="Calibri"/>
              </a:rPr>
              <a:t>MLP — FP=6,  FN=19,  TP=55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Autoencoder — FP=108,  FN=21,  TP=53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MLP makes only 6 false positives on 42,648 legitimate transactions (0.0141% FPR) and misses 19/74 frauds.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Autoencoder catches 53 frauds at the cost of 108 false alarms — 18× more noise for the operations team.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• In production we'd ensemble: MLP as primary, AE as drift sensor + fallback for novel fraud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WHAT CARRIES THE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Ablation Study (subtractive)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Removed component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ΔF1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ΔROC-AUC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ΔPR-AUC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LeakyReLU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Class weights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-0.0221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-0.0713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-0.0755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He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BatchNorm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-0.0137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-0.0324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-0.0415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Dropout(0.3)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+0.0055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+0.0032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L2(1e-4)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+0.0082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-0.0030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1554480"/>
            <a:ext cx="46634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  <a:latin typeface="Calibri"/>
              </a:rPr>
              <a:t>Reading the table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Removing </a:t>
            </a:r>
            <a:r>
              <a:rPr sz="1300" b="1" i="0">
                <a:solidFill>
                  <a:srgbClr val="111827"/>
                </a:solidFill>
                <a:latin typeface="Calibri"/>
              </a:rPr>
              <a:t>LeakyReLU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hurts F1 the most  (−0.056).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Removing </a:t>
            </a:r>
            <a:r>
              <a:rPr sz="1300" b="1" i="0">
                <a:solidFill>
                  <a:srgbClr val="111827"/>
                </a:solidFill>
                <a:latin typeface="Calibri"/>
              </a:rPr>
              <a:t>class weights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hurts ROC-AUC the most  (−0.071).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Removing </a:t>
            </a:r>
            <a:r>
              <a:rPr sz="1300" b="1" i="0">
                <a:solidFill>
                  <a:srgbClr val="16A34A"/>
                </a:solidFill>
                <a:latin typeface="Calibri"/>
              </a:rPr>
              <a:t>Dropout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16A34A"/>
                </a:solidFill>
                <a:latin typeface="Calibri"/>
              </a:rPr>
              <a:t>L2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gives </a:t>
            </a:r>
            <a:r>
              <a:rPr sz="1300" b="1" i="0">
                <a:solidFill>
                  <a:srgbClr val="16A34A"/>
                </a:solidFill>
                <a:latin typeface="Calibri"/>
              </a:rPr>
              <a:t>positive Δ</a:t>
            </a:r>
            <a:r>
              <a:rPr sz="1300" b="0" i="0">
                <a:solidFill>
                  <a:srgbClr val="111827"/>
                </a:solidFill>
                <a:latin typeface="Calibri"/>
              </a:rPr>
              <a:t> — they were over-regularising.</a:t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Bottom line:</a:t>
            </a:r>
          </a:p>
          <a:p>
            <a:pPr algn="l"/>
            <a:r>
              <a:rPr sz="1300" b="0" i="1">
                <a:solidFill>
                  <a:srgbClr val="111827"/>
                </a:solidFill>
                <a:latin typeface="Calibri"/>
              </a:rPr>
              <a:t>Optimiser &gt; activation/init &gt; BatchNorm &gt; class weights ≫ Dropout/L2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Biggest challenges faced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4864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Extreme class imbalance (0.17 %)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Forced us off accuracy and on to PR-AUC. Every threshold tweak had outsized impact on the confusion matrix.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864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Fair model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Realised the AE was trained on a different normals split than the MLP's test set — risked train/test leakage. Fixed by retraining the AE on the same train split before comparing.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4864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Threshold instability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19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Adding class weights shifts the entire probability calibration — every variant needed its own threshold re-tuning before metrics were comparable.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46320"/>
            <a:ext cx="54864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Calibri"/>
              </a:rPr>
              <a:t>Counter-intuitive regularisation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Default DL instinct says "add Dropout + L2". The ablation showed they were hurting; this only became visible after running the subtractive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What we'd improve with more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486400" cy="1234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Gradient-boosted trees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XGBoost / LightGBM are historically very competitive on tabular data. We need to know how much deep learning is actually buying us over a strong classical baseline.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486400" cy="1234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5544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Focal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Replace BCE with focal loss to directly down-weight easy negatives — known to help under extreme class imbalance.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5486400" cy="1234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MLP + Autoencoder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290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Stack the MLP probability and AE reconstruction error in a logistic meta-learner. The AE's ranking is complementary at the high-recall tail.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926080"/>
            <a:ext cx="5486400" cy="1234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Probability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Add Platt scaling / isotonic regression on the validation set so probabilities are usable in cost-sensitive downstream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97680"/>
            <a:ext cx="5486400" cy="12344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Bootstrap confidence intervals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Only 74 frauds in the test set — every CM cell has high variance. Report 95 % CIs on F1 before any deployment claim.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4864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•  Best supervised MLP: F1 = 0.815, ROC-AUC = 0.9791, PR-AUC = 0.8329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Plain Adam-trained baseline beats every more-regularised variant.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54864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•  Supervised MLP &gt; Autoencoder by +0.36 F1, +0.34 PR-AUC on the same test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But the AE is still valuable as a drift sensor and as a fallback for novel fraud 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54864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•  Optimiser choice was the single biggest design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673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Adam over SGD added +0.13 PR-AUC; nothing else moved the needle as much.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54864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•  Heavy regularisation hurts when data : params is high.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817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With ~39 examples per parameter, Dropout / L2 removed signal we couldn't spare.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12080"/>
            <a:ext cx="54864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  <a:latin typeface="Calibri"/>
              </a:rPr>
              <a:t>•  Methodology matters as much as 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96128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Retraining the AE on the shared split was the difference between a fair comparison and a leaky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Ahmed Raza  ·  CS-419 Deep Learning  ·  Credit Card Fraud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D1D5DB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D1D5DB"/>
                </a:solidFill>
                <a:latin typeface="Calibri"/>
              </a:rPr>
              <a:t>Ahmed Raza  ·  CS-419 Deep Learning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D4ED8"/>
                </a:solidFill>
                <a:latin typeface="Calibri"/>
              </a:rPr>
              <a:t>github.com/AhmedRaza33/dl-project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